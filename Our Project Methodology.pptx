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719387" y="1647825"/>
            <a:ext cx="6753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550556" y="2076450"/>
            <a:ext cx="7090886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How We Built It: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25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 The Spam Classifier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175" y="4458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71625" y="311943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311943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96125" y="311943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58375" y="311943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602456" y="4071937"/>
            <a:ext cx="270033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Acquisition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6750" y="4614862"/>
            <a:ext cx="2571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Collecting the Enron Corpus dataset.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3364706" y="4071937"/>
            <a:ext cx="270033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Cleaning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3429000" y="4614862"/>
            <a:ext cx="2571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Removing noise &amp; normalizing text.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126956" y="4071937"/>
            <a:ext cx="270033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Vectorizing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191250" y="4614862"/>
            <a:ext cx="2571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Converting words into math vectors.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889206" y="4071937"/>
            <a:ext cx="270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Modeling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953500" y="4614862"/>
            <a:ext cx="2571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Training &amp; comparing 5 algorithms.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Our 4-Phase Workflow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270510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Turning Chaos into Data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324802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Emails are messy. We applied a strict cleaning pipeline to ensure our models only see relevant information: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812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3971925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Lowercasing: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treat "WIN" and "win" the same.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440055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Regex Filtering: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Removing HTML tags &amp; symbols.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4829175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Stop-Word Removal: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Deleting useless words (is, the, in).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243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529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8156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Step 1: Text Cleaning (The "How")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971925"/>
            <a:ext cx="5286375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812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6334125" y="266700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Making Machines "Read"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334125" y="320992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Algorithms can't read text; they read numbers. We used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TF-IDF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(Term Frequency-Inverse Document Frequency):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619875" y="4210050"/>
            <a:ext cx="47625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"This method gives higher 'weight' to words that are rare across the whole dataset but frequent in a specific email (like 'Lottery' or 'Prize'), making spam easier to spot."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Step 2: Vectorization (TF-IDF)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09737"/>
            <a:ext cx="349240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709737"/>
            <a:ext cx="3492549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1709737"/>
            <a:ext cx="349240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14837"/>
            <a:ext cx="349240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4414837"/>
            <a:ext cx="3492549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71500" y="113823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didn't just build one model; we built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five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find the absolute best performer:</a:t>
            </a:r>
            <a:endParaRPr/>
          </a:p>
        </p:txBody>
      </p:sp>
      <p:pic>
        <p:nvPicPr>
          <p:cNvPr id="145" name="Google Shape;14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27200" y="20050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794228" y="2576512"/>
            <a:ext cx="304694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Naive Bayes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66775" y="3119437"/>
            <a:ext cx="29018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Baseline: Quick &amp; based on probability.</a:t>
            </a:r>
            <a:endParaRPr/>
          </a:p>
        </p:txBody>
      </p:sp>
      <p:pic>
        <p:nvPicPr>
          <p:cNvPr id="148" name="Google Shape;148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05351" y="20050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4572375" y="2576512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SVM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644925" y="3119437"/>
            <a:ext cx="290199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Border: Creating a clear margin between classes.</a:t>
            </a:r>
            <a:endParaRPr/>
          </a:p>
        </p:txBody>
      </p:sp>
      <p:pic>
        <p:nvPicPr>
          <p:cNvPr id="151" name="Google Shape;151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83650" y="20050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8350679" y="2576512"/>
            <a:ext cx="304694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Logistic Reg.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423225" y="3119437"/>
            <a:ext cx="29018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Statistician: Predicting binary outcomes.</a:t>
            </a:r>
            <a:endParaRPr/>
          </a:p>
        </p:txBody>
      </p:sp>
      <p:pic>
        <p:nvPicPr>
          <p:cNvPr id="154" name="Google Shape;154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151012" y="471011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794228" y="5281612"/>
            <a:ext cx="304694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Decision Tree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66775" y="5824537"/>
            <a:ext cx="29018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Logic: Asking series of binary questions.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4572375" y="4929187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Random Forest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4644925" y="5472112"/>
            <a:ext cx="290199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Crowd: Combining many trees for stability.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571500" y="23812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Step 3: Algorithm Implementation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71500" y="73818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571500" y="246221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evaluated every model using a "Test Set" (data the model has never seen before) to ensure real-world reliability: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Step 4: Benchmarking Success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A blue and white striped background&#10;&#10;AI-generated content may be incorrect.">
            <a:extLst>
              <a:ext uri="{FF2B5EF4-FFF2-40B4-BE49-F238E27FC236}">
                <a16:creationId xmlns:a16="http://schemas.microsoft.com/office/drawing/2014/main" id="{0210D23E-D0F9-5511-1680-B93B72634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0713" y="3047678"/>
            <a:ext cx="7235687" cy="30098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3057525"/>
            <a:ext cx="5286375" cy="1731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 dirty="0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99%</a:t>
            </a:r>
            <a:endParaRPr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4486275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PEAK PRECISION REACHED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334125" y="2947987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What We Learned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334125" y="3500437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 Quality &gt; Algorithm: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Cleaning the Enron text was the most impactful step.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334125" y="4262437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SVM Strength: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SVM proved strongest for text as it handles high-dimensional vectors flawlessly.</a:t>
            </a:r>
            <a:endParaRPr/>
          </a:p>
        </p:txBody>
      </p:sp>
      <p:pic>
        <p:nvPicPr>
          <p:cNvPr id="180" name="Google Shape;18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55282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314825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Summary of Achievement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8300" y="2999400"/>
            <a:ext cx="1893823" cy="1441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03861" y="2999407"/>
            <a:ext cx="2077859" cy="1441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6960" y="3159519"/>
            <a:ext cx="516512" cy="51651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379079" y="3753507"/>
            <a:ext cx="1652400" cy="1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Member 1</a:t>
            </a:r>
            <a:endParaRPr sz="759"/>
          </a:p>
        </p:txBody>
      </p:sp>
      <p:sp>
        <p:nvSpPr>
          <p:cNvPr id="193" name="Google Shape;193;p20"/>
          <p:cNvSpPr txBox="1"/>
          <p:nvPr/>
        </p:nvSpPr>
        <p:spPr>
          <a:xfrm>
            <a:off x="418420" y="4047919"/>
            <a:ext cx="1573500" cy="1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Tarek Mostafa</a:t>
            </a:r>
            <a:endParaRPr sz="759"/>
          </a:p>
        </p:txBody>
      </p:sp>
      <p:pic>
        <p:nvPicPr>
          <p:cNvPr id="194" name="Google Shape;19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59444" y="3168781"/>
            <a:ext cx="566682" cy="56668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2536394" y="3820465"/>
            <a:ext cx="18129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49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Member 2</a:t>
            </a:r>
            <a:endParaRPr sz="833"/>
          </a:p>
        </p:txBody>
      </p:sp>
      <p:sp>
        <p:nvSpPr>
          <p:cNvPr id="196" name="Google Shape;196;p20"/>
          <p:cNvSpPr txBox="1"/>
          <p:nvPr/>
        </p:nvSpPr>
        <p:spPr>
          <a:xfrm>
            <a:off x="2579558" y="4143473"/>
            <a:ext cx="17265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92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Abdallah omran</a:t>
            </a:r>
            <a:endParaRPr sz="833"/>
          </a:p>
        </p:txBody>
      </p:sp>
      <p:pic>
        <p:nvPicPr>
          <p:cNvPr id="197" name="Google Shape;197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03906" y="3301933"/>
            <a:ext cx="202737" cy="231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343619" y="3338785"/>
            <a:ext cx="198339" cy="22667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571500" y="571500"/>
            <a:ext cx="11601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Meet the Team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71500" y="1285875"/>
            <a:ext cx="11049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57225" y="3037438"/>
            <a:ext cx="1793823" cy="136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109521" y="3189102"/>
            <a:ext cx="489238" cy="48923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9571627" y="3751726"/>
            <a:ext cx="15648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9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Member </a:t>
            </a:r>
            <a:r>
              <a:rPr lang="en-US" sz="1079" b="1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719"/>
          </a:p>
        </p:txBody>
      </p:sp>
      <p:sp>
        <p:nvSpPr>
          <p:cNvPr id="204" name="Google Shape;204;p20"/>
          <p:cNvSpPr txBox="1"/>
          <p:nvPr/>
        </p:nvSpPr>
        <p:spPr>
          <a:xfrm>
            <a:off x="9608890" y="4030592"/>
            <a:ext cx="1490700" cy="1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Noman Sami</a:t>
            </a:r>
            <a:endParaRPr sz="719"/>
          </a:p>
        </p:txBody>
      </p:sp>
      <p:pic>
        <p:nvPicPr>
          <p:cNvPr id="205" name="Google Shape;205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68525" y="3335874"/>
            <a:ext cx="171233" cy="195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95820" y="3057523"/>
            <a:ext cx="2059980" cy="1382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744899" y="3211184"/>
            <a:ext cx="561829" cy="49568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7127196" y="3781218"/>
            <a:ext cx="1797000" cy="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9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Member </a:t>
            </a:r>
            <a:r>
              <a:rPr lang="en-US" sz="1239" b="1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826"/>
          </a:p>
        </p:txBody>
      </p:sp>
      <p:sp>
        <p:nvSpPr>
          <p:cNvPr id="209" name="Google Shape;209;p20"/>
          <p:cNvSpPr txBox="1"/>
          <p:nvPr/>
        </p:nvSpPr>
        <p:spPr>
          <a:xfrm>
            <a:off x="7169988" y="4063757"/>
            <a:ext cx="1711800" cy="1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5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Mahmoud Medhat</a:t>
            </a:r>
            <a:endParaRPr sz="826" dirty="0"/>
          </a:p>
        </p:txBody>
      </p:sp>
      <p:pic>
        <p:nvPicPr>
          <p:cNvPr id="210" name="Google Shape;210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927494" y="3359889"/>
            <a:ext cx="196640" cy="198273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6614032" y="5901446"/>
            <a:ext cx="2015400" cy="1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26"/>
          </a:p>
        </p:txBody>
      </p:sp>
      <p:pic>
        <p:nvPicPr>
          <p:cNvPr id="212" name="Google Shape;212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66034" y="2999407"/>
            <a:ext cx="2059958" cy="1441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415098" y="3106097"/>
            <a:ext cx="561824" cy="56182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4797399" y="3752194"/>
            <a:ext cx="1797000" cy="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9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Member 3</a:t>
            </a:r>
            <a:endParaRPr sz="826"/>
          </a:p>
        </p:txBody>
      </p:sp>
      <p:sp>
        <p:nvSpPr>
          <p:cNvPr id="215" name="Google Shape;215;p20"/>
          <p:cNvSpPr txBox="1"/>
          <p:nvPr/>
        </p:nvSpPr>
        <p:spPr>
          <a:xfrm>
            <a:off x="4840190" y="4072434"/>
            <a:ext cx="1711800" cy="1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Abbas abdlrahman</a:t>
            </a:r>
            <a:endParaRPr sz="826"/>
          </a:p>
        </p:txBody>
      </p:sp>
      <p:pic>
        <p:nvPicPr>
          <p:cNvPr id="216" name="Google Shape;216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597693" y="3274644"/>
            <a:ext cx="196638" cy="224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3345656" y="1924050"/>
            <a:ext cx="5500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3476625" y="3257550"/>
            <a:ext cx="5238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3476625" y="4076700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Project: Spam Email Classification Analysis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</Words>
  <Application>Microsoft Office PowerPoint</Application>
  <PresentationFormat>Widescreen</PresentationFormat>
  <Paragraphs>53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Lato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Abbas</cp:lastModifiedBy>
  <cp:revision>1</cp:revision>
  <dcterms:modified xsi:type="dcterms:W3CDTF">2026-05-02T19:53:51Z</dcterms:modified>
</cp:coreProperties>
</file>